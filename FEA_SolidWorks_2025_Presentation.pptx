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D1D1F"/>
                </a:solidFill>
                <a:latin typeface="Calibri"/>
              </a:rPr>
              <a:t>Predict. Print. Break. Compare.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4577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0071E3"/>
                </a:solidFill>
                <a:latin typeface="Calibri"/>
              </a:rPr>
              <a:t>FEA Stress Analysis with SolidWorks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Crescent Valley High School  ·  CTE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The Big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1D1D1F"/>
                </a:solidFill>
                <a:latin typeface="Calibri"/>
              </a:rPr>
              <a:t>Students run an FEA simulation, 3D-print the part, physically break it, and compare prediction to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71E3"/>
                </a:solidFill>
                <a:latin typeface="Calibri"/>
              </a:rPr>
              <a:t>One lesson.  Four phases.  Real engineering.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Lesson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Phase 1: Learn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Sections 1–2  —  Physics vocab + FEA workflow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Phase 2: Simulate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Sections 3–4  —  SolidWorks setup + read results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Phase 3: Build &amp; Test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Sections 5–6  —  Print specimens + 3-point bend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Phase 4: Analyze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Section 7  —  Compare, percent error, reflection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Advanced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Section 8  —  The ABS Trap (differentiation)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What Students Need to Know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Six terms: Stress, Strain, Young’s Modulus, Yield Strength, UTS, Factor of Safety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No physics prerequisite — all taught in Section 1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The stress-strain curve is the single most important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The Stress-Strain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1  Elastic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Proportional, fully recoverable deformation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2  Yield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Onset of permanent deformation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3  Plastic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Material deforms permanently, strain-hardens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4  Fracture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Ultimate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 i="0">
                <a:solidFill>
                  <a:srgbClr val="0071E3"/>
                </a:solidFill>
                <a:latin typeface="Calibri"/>
              </a:rPr>
              <a:t>Key insight: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slope = stiffness,  area under curve = toughness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Material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PLA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Stiff, brittle, snaps clean  (3,300 MPa bending modulus)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PETG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Flexible, tough, stretches before failing  (1,900 MPa)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ABS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Impact resistant, but worst anisotropy in FDM  (2,300 MPa)</a:t>
            </a:r>
          </a:p>
          <a:p>
            <a:pPr algn="l">
              <a:spcBef>
                <a:spcPts val="2000"/>
              </a:spcBef>
              <a:spcAft>
                <a:spcPts val="400"/>
              </a:spcAft>
            </a:pPr>
            <a:r>
              <a:rPr sz="1300" b="0" i="1">
                <a:solidFill>
                  <a:srgbClr val="86868B"/>
                </a:solidFill>
                <a:latin typeface="Calibri"/>
              </a:rPr>
              <a:t>Source: CNC Kitchen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What FEA Actually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Computer breaks part into elements (mesh)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Solves stress equations at every element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Assembles full stress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The 7-Step Pipeline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1.  Geometry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2.  Material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3.  Fixtures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4.  Loads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5.  Mesh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1" i="0">
                <a:solidFill>
                  <a:srgbClr val="0071E3"/>
                </a:solidFill>
                <a:latin typeface="Calibri"/>
              </a:rPr>
              <a:t>6.  Solve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7.  Interpret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GIGO: The Central Lesson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071E3"/>
                </a:solidFill>
                <a:latin typeface="Calibri"/>
              </a:rPr>
              <a:t>Garbage In, Garbage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000" b="0" i="0">
                <a:solidFill>
                  <a:srgbClr val="515154"/>
                </a:solidFill>
                <a:latin typeface="Calibri"/>
              </a:rPr>
              <a:t>–  6 of 7 steps are HUMAN decisions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000" b="0" i="0">
                <a:solidFill>
                  <a:srgbClr val="515154"/>
                </a:solidFill>
                <a:latin typeface="Calibri"/>
              </a:rPr>
              <a:t>–  The computer only owns Step 6 (Solve)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000" b="0" i="0">
                <a:solidFill>
                  <a:srgbClr val="515154"/>
                </a:solidFill>
                <a:latin typeface="Calibri"/>
              </a:rPr>
              <a:t>–  Wrong inputs = precise, beautiful, wrong answers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SolidWorks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SimulationXpress (free) vs Simulation Standard (paid) — both work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Custom FDM PLA material profile (E = 3300, Yield = 40, UTS = 50)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Default library materials are wrong for 3D-printed parts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Students must create their own material entry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Custom Material Profile  —  FDM PLA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D1D1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137160" marT="73152" marB="7315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D1D1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37160" marT="73152" marB="73152"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Young’s Modulus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3,300 MPa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Yield Strength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40 MPa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50 MPa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Poisson’s Ratio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Density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515154"/>
                          </a:solidFill>
                          <a:latin typeface="Calibri"/>
                        </a:rPr>
                        <a:t>1,240 kg/m³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Reading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Von Mises stress plot: red = high stress, blue = low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Displacement plot: how far the part bends (watch for visual exaggeration)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Factor of Safety: below 1.0 = predicted failure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Always read the legend numbers, not just the colors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Print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Printer</a:t>
            </a:r>
          </a:p>
          <a:p>
            <a:pPr algn="l">
              <a:spcBef>
                <a:spcPts val="400"/>
              </a:spcBef>
              <a:spcAft>
                <a:spcPts val="20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Bambu Lab P1S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Slicer Settings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100% infill, rectilinear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0.20 mm layer height, 4 walls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210–215 °C nozzle, 60 °C bed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Orientation: flat on bed (XY)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Quality Control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Print ≥ 3 specimens per condition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Label every specimen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24-hour conditioning before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Three-Point Bend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Two supports, one load applied at center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ASTM D790: 16:1 span-to-depth ratio (64 mm span, 4 mm depth)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Three setup options: dead weight, shop press, CNC Kitchen style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Safety glasses required for all students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The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1800" b="1" i="0">
                <a:solidFill>
                  <a:srgbClr val="1D1D1F"/>
                </a:solidFill>
                <a:latin typeface="Calibri"/>
              </a:rPr>
              <a:t>Flexural stress    </a:t>
            </a:r>
            <a:r>
              <a:rPr sz="1800" b="1" i="0">
                <a:solidFill>
                  <a:srgbClr val="0071E3"/>
                </a:solidFill>
                <a:latin typeface="Calibri"/>
              </a:rPr>
              <a:t>σᶠ = (3 · F · L) / (2 · b · d²)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sz="1800" b="1" i="0">
                <a:solidFill>
                  <a:srgbClr val="1D1D1F"/>
                </a:solidFill>
                <a:latin typeface="Calibri"/>
              </a:rPr>
              <a:t>Flexural modulus   </a:t>
            </a:r>
            <a:r>
              <a:rPr sz="1800" b="1" i="0">
                <a:solidFill>
                  <a:srgbClr val="0071E3"/>
                </a:solidFill>
                <a:latin typeface="Calibri"/>
              </a:rPr>
              <a:t>Eᶠ = (L³ · m) / (4 · b · d³)</a:t>
            </a:r>
          </a:p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Worked Example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 i="0">
                <a:solidFill>
                  <a:srgbClr val="515154"/>
                </a:solidFill>
                <a:latin typeface="Calibri"/>
              </a:rPr>
              <a:t>F = 85 N,  L = 64 mm,  b = 12.7 mm,  d = 4 mm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σᶠ = 51.0 MPa</a:t>
            </a:r>
            <a:r>
              <a:rPr sz="1700" b="0" i="0">
                <a:solidFill>
                  <a:srgbClr val="515154"/>
                </a:solidFill>
                <a:latin typeface="Calibri"/>
              </a:rPr>
              <a:t>    within published PLA range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Compare: Predicted vs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Percent Error  =  | (Predicted – Actual) / Actual | ×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457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&lt; 10%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Strong correlation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10 – 20%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Acceptable for FDM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20 – 35%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Investigate sources of error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&gt; 35%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Something fundamentally wrong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Sources of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Material property mismatch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Print defects (voids, poor layer adhesion)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Fixture alignment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Measurement precision (caliper accuracy)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Isotropic assumption on anisotropic parts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Temperature and humidity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71E3"/>
                </a:solidFill>
                <a:latin typeface="Calibri"/>
              </a:rPr>
              <a:t>Advanced:  </a:t>
            </a:r>
            <a:r>
              <a:rPr sz="3600" b="1" i="0">
                <a:solidFill>
                  <a:srgbClr val="1D1D1F"/>
                </a:solidFill>
                <a:latin typeface="Calibri"/>
              </a:rPr>
              <a:t>The ABS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Default SolidWorks ABS = injection-molded properties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FDM ABS = weaker, highly anisotropic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Expect 25–50% error with default profile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Students create corrected FDM ABS profile and see error shrink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000" b="0" i="0">
                <a:solidFill>
                  <a:srgbClr val="51515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71E3"/>
                </a:solidFill>
                <a:latin typeface="Calibri"/>
              </a:rPr>
              <a:t>Capstone lesson: 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Assumptions matter more than software.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Differentiation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CORE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Sections 1–7  —  all juniors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ADVANCED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Full Sections 1–8 with ABS investigation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800" b="0" i="0">
                <a:solidFill>
                  <a:srgbClr val="515154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Self-paced scaffolding on every section page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Students who miss lecture can work independently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Resources Provided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Live Site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mr-mcateer.github.io/fea-solidworks-2025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Binders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.docx (CORE + ADVANCED) — copy / paste / modify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Reference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Glossary, Formula Sheet, Troubleshooting Guide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Teacher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Pacing Guide, Answer Keys, Rubric, Procurement List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Video 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CNC Kitchen as anchor resource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100-point rubric + 25 bonus (Section 8)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Engineering notebook with screenshots, calculations, reflections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Percent error analysis with identified error sources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515154"/>
                </a:solidFill>
                <a:latin typeface="Calibri"/>
              </a:rPr>
              <a:t>–  Written prediction BEFORE physical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What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Software</a:t>
            </a:r>
          </a:p>
          <a:p>
            <a:pPr algn="l">
              <a:spcBef>
                <a:spcPts val="400"/>
              </a:spcBef>
              <a:spcAft>
                <a:spcPts val="16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SolidWorks 2025 with SimulationXpress
    or Simulation Standard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Hardware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Bambu Lab P1S (or any FDM with enclosure for ABS)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Basic 3-point bend test rig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Digital calipers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Safety glasses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Materials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PLA filament (required)</a:t>
            </a:r>
          </a:p>
          <a:p>
            <a:pPr algn="l">
              <a:spcBef>
                <a:spcPts val="400"/>
              </a:spcBef>
              <a:spcAft>
                <a:spcPts val="1600"/>
              </a:spcAft>
            </a:pPr>
            <a:r>
              <a:rPr sz="1600" b="0" i="0">
                <a:solidFill>
                  <a:srgbClr val="515154"/>
                </a:solidFill>
                <a:latin typeface="Calibri"/>
              </a:rPr>
              <a:t>–  ABS filament (Section 8 only)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2000" b="1" i="0">
                <a:solidFill>
                  <a:srgbClr val="1D1D1F"/>
                </a:solidFill>
                <a:latin typeface="Calibri"/>
              </a:rPr>
              <a:t>Budget</a:t>
            </a:r>
          </a:p>
          <a:p>
            <a:pPr>
              <a:spcBef>
                <a:spcPts val="400"/>
              </a:spcBef>
            </a:pPr>
            <a:r>
              <a:rPr sz="2800" b="1" i="0">
                <a:solidFill>
                  <a:srgbClr val="0071E3"/>
                </a:solidFill>
                <a:latin typeface="Calibri"/>
              </a:rPr>
              <a:t>$20 – $58</a:t>
            </a:r>
            <a:r>
              <a:rPr sz="1700" b="0" i="0">
                <a:solidFill>
                  <a:srgbClr val="515154"/>
                </a:solidFill>
                <a:latin typeface="Calibri"/>
              </a:rPr>
              <a:t>  per class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6868B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D1D1F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5775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200" b="1" i="0">
                <a:solidFill>
                  <a:srgbClr val="0071E3"/>
                </a:solidFill>
                <a:latin typeface="Calibri"/>
              </a:rPr>
              <a:t>1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Review the live site: mr-mcateer.github.io/fea-solidworks-2025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200" b="1" i="0">
                <a:solidFill>
                  <a:srgbClr val="0071E3"/>
                </a:solidFill>
                <a:latin typeface="Calibri"/>
              </a:rPr>
              <a:t>2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Pick CORE or ADVANCED path for your classes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200" b="1" i="0">
                <a:solidFill>
                  <a:srgbClr val="0071E3"/>
                </a:solidFill>
                <a:latin typeface="Calibri"/>
              </a:rPr>
              <a:t>3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Modify the .docx binder to fit your schedule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200" b="1" i="0">
                <a:solidFill>
                  <a:srgbClr val="0071E3"/>
                </a:solidFill>
                <a:latin typeface="Calibri"/>
              </a:rPr>
              <a:t>4   </a:t>
            </a:r>
            <a:r>
              <a:rPr sz="1800" b="0" i="0">
                <a:solidFill>
                  <a:srgbClr val="515154"/>
                </a:solidFill>
                <a:latin typeface="Calibri"/>
              </a:rPr>
              <a:t>Questions → mr-mcateer.github.io/fea-solidworks-2025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